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31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Units allocated</c:v>
                </c:pt>
              </c:strCache>
            </c:strRef>
          </c:tx>
          <c:spPr>
            <a:solidFill>
              <a:srgbClr val="C8102E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62626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1. GK One expansion</c:v>
                </c:pt>
                <c:pt idx="1">
                  <c:v>2. ScotiaProtect partnership</c:v>
                </c:pt>
                <c:pt idx="2">
                  <c:v>3. Post-Melissa lending</c:v>
                </c:pt>
                <c:pt idx="3">
                  <c:v>4. Unified customer data</c:v>
                </c:pt>
                <c:pt idx="4">
                  <c:v>5. Risk &amp; AML analytics</c:v>
                </c:pt>
                <c:pt idx="5">
                  <c:v>6. Branch modernization</c:v>
                </c:pt>
                <c:pt idx="6">
                  <c:v>7. Workforce &amp; retention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20</c:v>
                </c:pt>
                <c:pt idx="1">
                  <c:v>10</c:v>
                </c:pt>
                <c:pt idx="2">
                  <c:v>15</c:v>
                </c:pt>
                <c:pt idx="3">
                  <c:v>15</c:v>
                </c:pt>
                <c:pt idx="4">
                  <c:v>15</c:v>
                </c:pt>
                <c:pt idx="5">
                  <c:v>10</c:v>
                </c:pt>
                <c:pt idx="6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1F3-4B7C-A7A0-86B6B0B8F7A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262626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0"/>
          <c:min val="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95959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22295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GKFG 2030  |  ROUND 3 PRESENTATION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Allocation,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640080" y="22860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Reasoning, Our Bets.</a:t>
            </a:r>
            <a:endParaRPr lang="en-US" sz="6000" dirty="0"/>
          </a:p>
        </p:txBody>
      </p:sp>
      <p:sp>
        <p:nvSpPr>
          <p:cNvPr id="6" name="Shape 4"/>
          <p:cNvSpPr/>
          <p:nvPr/>
        </p:nvSpPr>
        <p:spPr>
          <a:xfrm>
            <a:off x="640080" y="3840480"/>
            <a:ext cx="4572000" cy="45720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3931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 ___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40080" y="4434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 Name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0" y="5852160"/>
            <a:ext cx="12161520" cy="1005840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080" y="6080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GKFG Data-Driven Decision-Making Program  |  Session 3  |  Module 12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Final Allocation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Post-curveball. 100 units distributed.</a:t>
            </a:r>
            <a:endParaRPr lang="en-US" sz="16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640080" y="1554480"/>
          <a:ext cx="109728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PLACEHOLDER VALUES — Replace with your table's final allocation. Total must equal 100.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Decision Logic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 /  So-What  /  Now-What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3566160" cy="4114800"/>
          </a:xfrm>
          <a:prstGeom prst="rect">
            <a:avLst/>
          </a:prstGeom>
          <a:solidFill>
            <a:srgbClr val="FDEEE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0080" y="1737360"/>
            <a:ext cx="3566160" cy="411480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68680" y="17373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23774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the data clearly suggest?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68680" y="3017520"/>
            <a:ext cx="31089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[Replace with your one-sentence Insight. No jargon. No defensiveness.]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480560" y="1737360"/>
            <a:ext cx="3566160" cy="4114800"/>
          </a:xfrm>
          <a:prstGeom prst="rect">
            <a:avLst/>
          </a:prstGeom>
          <a:solidFill>
            <a:srgbClr val="FDEEE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480560" y="1737360"/>
            <a:ext cx="3566160" cy="411480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09160" y="17373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SO-WHAT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709160" y="23774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it matter to the board?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709160" y="3017520"/>
            <a:ext cx="31089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[Replace with your So-What. Connect to revenue, risk, customer, or strategic position.]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321040" y="1737360"/>
            <a:ext cx="3566160" cy="4114800"/>
          </a:xfrm>
          <a:prstGeom prst="rect">
            <a:avLst/>
          </a:prstGeom>
          <a:solidFill>
            <a:srgbClr val="FDEEE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321040" y="1737360"/>
            <a:ext cx="3566160" cy="411480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549640" y="17373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NOW-WHAT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549640" y="23774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decision are we asking for?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549640" y="3017520"/>
            <a:ext cx="31089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[Replace with your Now-What. Specific. Time-bound. Owned.]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Changed After the Curveball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1  vs.  Round 2  —  side by side</a:t>
            </a:r>
            <a:endParaRPr lang="en-US" sz="1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54480"/>
          <a:ext cx="10972800" cy="402336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D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R1 Units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D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R2 Units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D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D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It Changed (or Stayed)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D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GK One expansion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[fill in]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ScotiaProtect partnership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[fill in]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Post-Melissa lending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[fill in]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Unified customer data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[fill in]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Risk &amp; AML analytics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[fill in]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 Branch modernization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[fill in]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 Workforce &amp; retention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[fill in]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bracketed placeholders with your reasoning for each row. Bold the rows you most want to defend.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Would Change Our Mind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conditions that would force us to revisit — named in advance.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1097280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68680" y="2057400"/>
            <a:ext cx="731520" cy="731520"/>
          </a:xfrm>
          <a:prstGeom prst="ellipse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68680" y="20574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1828800" y="19202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828800" y="224028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i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[If we observe... we will revisit our allocation by reducing/increasing... and shifting toward...]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3291840"/>
            <a:ext cx="1097280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868680" y="3611880"/>
            <a:ext cx="731520" cy="731520"/>
          </a:xfrm>
          <a:prstGeom prst="ellipse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68680" y="36118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1828800" y="34747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828800" y="379476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i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[If we observe... we will revisit our allocation by reducing/increasing... and shifting toward...]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40080" y="4846320"/>
            <a:ext cx="1097280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68680" y="5166360"/>
            <a:ext cx="731520" cy="731520"/>
          </a:xfrm>
          <a:prstGeom prst="ellipse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68680" y="51663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1828800" y="5029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828800" y="534924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i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[If we observe... we will revisit our allocation by reducing/increasing... and shifting toward...]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slide that separates a thoughtful ExCo from a defensive one.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62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allocation reflects our convictions.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640080" y="2743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also a decision we are willing to defend, and to revise.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3840480"/>
            <a:ext cx="1371600" cy="73152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40233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→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45720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BF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them sharp.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418320" y="59436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 ___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370</Words>
  <Application>Microsoft Office PowerPoint</Application>
  <PresentationFormat>Widescreen</PresentationFormat>
  <Paragraphs>65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GraceKennedy Financial Group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GKFG 2030 — Round 3 Presentation Template</dc:title>
  <dc:subject>PptxGenJS Presentation</dc:subject>
  <dc:creator>GKFG Data-Driven Decision-Making Program</dc:creator>
  <cp:lastModifiedBy>Allen Sanders</cp:lastModifiedBy>
  <cp:revision>2</cp:revision>
  <dcterms:created xsi:type="dcterms:W3CDTF">2026-05-18T16:12:58Z</dcterms:created>
  <dcterms:modified xsi:type="dcterms:W3CDTF">2026-05-18T20:17:09Z</dcterms:modified>
</cp:coreProperties>
</file>